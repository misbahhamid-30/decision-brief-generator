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Synthetic data throughout. The purpose is to demonstrate the analytical method, not to report on a real business.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ask. The rest of the deck justifies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tool reasoning from symptoms to inventory would get this wrong and spend a quarter fixing something that was never broken.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Knowing that the obvious fix does not work is worth as much as knowing which one does.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33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Supply Chain</a:t>
            </a:r>
            <a:endParaRPr lang="en-US" sz="46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 Brief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40080" y="370332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A9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Careem Quik — UAE dark-store network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413308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2025-01-01 to 2026-06-30  ·  546 days  ·  AED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571500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the Supply Chain Director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321040" y="5623560"/>
            <a:ext cx="3200400" cy="502920"/>
          </a:xfrm>
          <a:prstGeom prst="roundRect">
            <a:avLst>
              <a:gd name="adj" fmla="val 18182"/>
            </a:avLst>
          </a:prstGeom>
          <a:solidFill>
            <a:srgbClr val="E8A33D"/>
          </a:solidFill>
          <a:ln/>
        </p:spPr>
      </p:sp>
      <p:sp>
        <p:nvSpPr>
          <p:cNvPr id="7" name="Text 5"/>
          <p:cNvSpPr/>
          <p:nvPr/>
        </p:nvSpPr>
        <p:spPr>
          <a:xfrm>
            <a:off x="8321040" y="56235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B1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— SYNTHETIC DATA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402336" cy="402336"/>
          </a:xfrm>
          <a:prstGeom prst="ellipse">
            <a:avLst/>
          </a:prstGeom>
          <a:solidFill>
            <a:srgbClr val="0FA95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207008" y="329184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decision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207008" y="914400"/>
            <a:ext cx="10314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being asked, before any of the analysis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1536192"/>
            <a:ext cx="2560320" cy="1783080"/>
          </a:xfrm>
          <a:prstGeom prst="roundRect">
            <a:avLst>
              <a:gd name="adj" fmla="val 4103"/>
            </a:avLst>
          </a:prstGeom>
          <a:solidFill>
            <a:srgbClr val="F4F6F5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1828800"/>
            <a:ext cx="21579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900" dirty="0"/>
          </a:p>
        </p:txBody>
      </p:sp>
      <p:sp>
        <p:nvSpPr>
          <p:cNvPr id="8" name="Text 6"/>
          <p:cNvSpPr/>
          <p:nvPr/>
        </p:nvSpPr>
        <p:spPr>
          <a:xfrm>
            <a:off x="841248" y="2670048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recommended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0712" y="1536192"/>
            <a:ext cx="2560320" cy="1783080"/>
          </a:xfrm>
          <a:prstGeom prst="roundRect">
            <a:avLst>
              <a:gd name="adj" fmla="val 4103"/>
            </a:avLst>
          </a:prstGeom>
          <a:solidFill>
            <a:srgbClr val="F4F6F5"/>
          </a:solidFill>
          <a:ln/>
        </p:spPr>
      </p:sp>
      <p:sp>
        <p:nvSpPr>
          <p:cNvPr id="10" name="Text 8"/>
          <p:cNvSpPr/>
          <p:nvPr/>
        </p:nvSpPr>
        <p:spPr>
          <a:xfrm>
            <a:off x="3611880" y="1828800"/>
            <a:ext cx="21579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A9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727k</a:t>
            </a:r>
            <a:endParaRPr lang="en-US" sz="2900" dirty="0"/>
          </a:p>
        </p:txBody>
      </p:sp>
      <p:sp>
        <p:nvSpPr>
          <p:cNvPr id="11" name="Text 9"/>
          <p:cNvSpPr/>
          <p:nvPr/>
        </p:nvSpPr>
        <p:spPr>
          <a:xfrm>
            <a:off x="3611880" y="2670048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annual value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81344" y="1536192"/>
            <a:ext cx="2560320" cy="1783080"/>
          </a:xfrm>
          <a:prstGeom prst="roundRect">
            <a:avLst>
              <a:gd name="adj" fmla="val 4103"/>
            </a:avLst>
          </a:prstGeom>
          <a:solidFill>
            <a:srgbClr val="F4F6F5"/>
          </a:solidFill>
          <a:ln/>
        </p:spPr>
      </p:sp>
      <p:sp>
        <p:nvSpPr>
          <p:cNvPr id="13" name="Text 11"/>
          <p:cNvSpPr/>
          <p:nvPr/>
        </p:nvSpPr>
        <p:spPr>
          <a:xfrm>
            <a:off x="6382512" y="1828800"/>
            <a:ext cx="21579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103k</a:t>
            </a:r>
            <a:endParaRPr lang="en-US" sz="2900" dirty="0"/>
          </a:p>
        </p:txBody>
      </p:sp>
      <p:sp>
        <p:nvSpPr>
          <p:cNvPr id="14" name="Text 12"/>
          <p:cNvSpPr/>
          <p:nvPr/>
        </p:nvSpPr>
        <p:spPr>
          <a:xfrm>
            <a:off x="6382512" y="2670048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one-off investment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951976" y="1536192"/>
            <a:ext cx="2560320" cy="1783080"/>
          </a:xfrm>
          <a:prstGeom prst="roundRect">
            <a:avLst>
              <a:gd name="adj" fmla="val 4103"/>
            </a:avLst>
          </a:prstGeom>
          <a:solidFill>
            <a:srgbClr val="F4F6F5"/>
          </a:solidFill>
          <a:ln/>
        </p:spPr>
      </p:sp>
      <p:sp>
        <p:nvSpPr>
          <p:cNvPr id="16" name="Text 14"/>
          <p:cNvSpPr/>
          <p:nvPr/>
        </p:nvSpPr>
        <p:spPr>
          <a:xfrm>
            <a:off x="9153144" y="1828800"/>
            <a:ext cx="21579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983k</a:t>
            </a:r>
            <a:endParaRPr lang="en-US" sz="2900" dirty="0"/>
          </a:p>
        </p:txBody>
      </p:sp>
      <p:sp>
        <p:nvSpPr>
          <p:cNvPr id="17" name="Text 15"/>
          <p:cNvSpPr/>
          <p:nvPr/>
        </p:nvSpPr>
        <p:spPr>
          <a:xfrm>
            <a:off x="9153144" y="2670048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 leakage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3913632"/>
            <a:ext cx="182880" cy="182880"/>
          </a:xfrm>
          <a:prstGeom prst="ellipse">
            <a:avLst/>
          </a:prstGeom>
          <a:solidFill>
            <a:srgbClr val="0FA958"/>
          </a:solidFill>
          <a:ln/>
        </p:spPr>
      </p:sp>
      <p:sp>
        <p:nvSpPr>
          <p:cNvPr id="19" name="Text 17"/>
          <p:cNvSpPr/>
          <p:nvPr/>
        </p:nvSpPr>
        <p:spPr>
          <a:xfrm>
            <a:off x="969264" y="379476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A9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now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69264" y="41605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 and R5a. Both are scheduling changes — no headcount, no capital.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40080" y="4782312"/>
            <a:ext cx="182880" cy="182880"/>
          </a:xfrm>
          <a:prstGeom prst="ellipse">
            <a:avLst/>
          </a:prstGeom>
          <a:solidFill>
            <a:srgbClr val="046A38"/>
          </a:solidFill>
          <a:ln/>
        </p:spPr>
      </p:sp>
      <p:sp>
        <p:nvSpPr>
          <p:cNvPr id="22" name="Text 20"/>
          <p:cNvSpPr/>
          <p:nvPr/>
        </p:nvSpPr>
        <p:spPr>
          <a:xfrm>
            <a:off x="969264" y="46634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 to negotiate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69264" y="5029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 and R3. Both need supplier agreement before they can move.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40080" y="5650992"/>
            <a:ext cx="182880" cy="182880"/>
          </a:xfrm>
          <a:prstGeom prst="ellipse">
            <a:avLst/>
          </a:prstGeom>
          <a:solidFill>
            <a:srgbClr val="D64545"/>
          </a:solidFill>
          <a:ln/>
        </p:spPr>
      </p:sp>
      <p:sp>
        <p:nvSpPr>
          <p:cNvPr id="25" name="Text 23"/>
          <p:cNvSpPr/>
          <p:nvPr/>
        </p:nvSpPr>
        <p:spPr>
          <a:xfrm>
            <a:off x="969264" y="55321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69264" y="58978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recommendation is analysed and rejected. The obvious fix for the worst-performing store costs more than it saves.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640080" y="641908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— synthetic data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402336" cy="402336"/>
          </a:xfrm>
          <a:prstGeom prst="ellipse">
            <a:avLst/>
          </a:prstGeom>
          <a:solidFill>
            <a:srgbClr val="0FA95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207008" y="329184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network stands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207008" y="914400"/>
            <a:ext cx="10314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headline metric against its declared target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1600200"/>
            <a:ext cx="2560320" cy="1481328"/>
          </a:xfrm>
          <a:prstGeom prst="roundRect">
            <a:avLst>
              <a:gd name="adj" fmla="val 4938"/>
            </a:avLst>
          </a:prstGeom>
          <a:solidFill>
            <a:srgbClr val="FDF3F3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28216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rate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04672" y="2103120"/>
            <a:ext cx="2231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90.5%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804672" y="2651760"/>
            <a:ext cx="223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97.0%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10712" y="1600200"/>
            <a:ext cx="2560320" cy="1481328"/>
          </a:xfrm>
          <a:prstGeom prst="roundRect">
            <a:avLst>
              <a:gd name="adj" fmla="val 4938"/>
            </a:avLst>
          </a:prstGeom>
          <a:solidFill>
            <a:srgbClr val="FDF3F3"/>
          </a:solidFill>
          <a:ln/>
        </p:spPr>
      </p:sp>
      <p:sp>
        <p:nvSpPr>
          <p:cNvPr id="11" name="Text 9"/>
          <p:cNvSpPr/>
          <p:nvPr/>
        </p:nvSpPr>
        <p:spPr>
          <a:xfrm>
            <a:off x="3575304" y="1728216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rate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575304" y="2103120"/>
            <a:ext cx="2231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3.6%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3575304" y="2651760"/>
            <a:ext cx="223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2.0%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81344" y="1600200"/>
            <a:ext cx="2560320" cy="1481328"/>
          </a:xfrm>
          <a:prstGeom prst="roundRect">
            <a:avLst>
              <a:gd name="adj" fmla="val 4938"/>
            </a:avLst>
          </a:prstGeom>
          <a:solidFill>
            <a:srgbClr val="FDF3F3"/>
          </a:solidFill>
          <a:ln/>
        </p:spPr>
      </p:sp>
      <p:sp>
        <p:nvSpPr>
          <p:cNvPr id="15" name="Text 13"/>
          <p:cNvSpPr/>
          <p:nvPr/>
        </p:nvSpPr>
        <p:spPr>
          <a:xfrm>
            <a:off x="6345936" y="1728216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OTIF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45936" y="2103120"/>
            <a:ext cx="2231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90.9%</a:t>
            </a:r>
            <a:endParaRPr 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6345936" y="2651760"/>
            <a:ext cx="223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95.0%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951976" y="1600200"/>
            <a:ext cx="2560320" cy="1481328"/>
          </a:xfrm>
          <a:prstGeom prst="roundRect">
            <a:avLst>
              <a:gd name="adj" fmla="val 4938"/>
            </a:avLst>
          </a:prstGeom>
          <a:solidFill>
            <a:srgbClr val="FDF3F3"/>
          </a:solidFill>
          <a:ln/>
        </p:spPr>
      </p:sp>
      <p:sp>
        <p:nvSpPr>
          <p:cNvPr id="19" name="Text 17"/>
          <p:cNvSpPr/>
          <p:nvPr/>
        </p:nvSpPr>
        <p:spPr>
          <a:xfrm>
            <a:off x="9116568" y="1728216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p50 (min)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16568" y="2103120"/>
            <a:ext cx="2231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20.2</a:t>
            </a:r>
            <a:endParaRPr lang="en-US" sz="2500" dirty="0"/>
          </a:p>
        </p:txBody>
      </p:sp>
      <p:sp>
        <p:nvSpPr>
          <p:cNvPr id="21" name="Text 19"/>
          <p:cNvSpPr/>
          <p:nvPr/>
        </p:nvSpPr>
        <p:spPr>
          <a:xfrm>
            <a:off x="9116568" y="2651760"/>
            <a:ext cx="223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20.0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" y="3383280"/>
            <a:ext cx="2560320" cy="1481328"/>
          </a:xfrm>
          <a:prstGeom prst="roundRect">
            <a:avLst>
              <a:gd name="adj" fmla="val 4938"/>
            </a:avLst>
          </a:prstGeom>
          <a:solidFill>
            <a:srgbClr val="FDF3F3"/>
          </a:solidFill>
          <a:ln/>
        </p:spPr>
      </p:sp>
      <p:sp>
        <p:nvSpPr>
          <p:cNvPr id="23" name="Text 21"/>
          <p:cNvSpPr/>
          <p:nvPr/>
        </p:nvSpPr>
        <p:spPr>
          <a:xfrm>
            <a:off x="804672" y="3511296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cancel rate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04672" y="3886200"/>
            <a:ext cx="2231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3.2%</a:t>
            </a:r>
            <a:endParaRPr lang="en-US" sz="2500" dirty="0"/>
          </a:p>
        </p:txBody>
      </p:sp>
      <p:sp>
        <p:nvSpPr>
          <p:cNvPr id="25" name="Text 23"/>
          <p:cNvSpPr/>
          <p:nvPr/>
        </p:nvSpPr>
        <p:spPr>
          <a:xfrm>
            <a:off x="804672" y="4434840"/>
            <a:ext cx="223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2.5%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410712" y="3383280"/>
            <a:ext cx="2560320" cy="1481328"/>
          </a:xfrm>
          <a:prstGeom prst="roundRect">
            <a:avLst>
              <a:gd name="adj" fmla="val 4938"/>
            </a:avLst>
          </a:prstGeom>
          <a:solidFill>
            <a:srgbClr val="F2FBF6"/>
          </a:solidFill>
          <a:ln/>
        </p:spPr>
      </p:sp>
      <p:sp>
        <p:nvSpPr>
          <p:cNvPr id="27" name="Text 25"/>
          <p:cNvSpPr/>
          <p:nvPr/>
        </p:nvSpPr>
        <p:spPr>
          <a:xfrm>
            <a:off x="3575304" y="3511296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utilisation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3575304" y="3886200"/>
            <a:ext cx="2231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A9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86.7%</a:t>
            </a:r>
            <a:endParaRPr lang="en-US" sz="2500" dirty="0"/>
          </a:p>
        </p:txBody>
      </p:sp>
      <p:sp>
        <p:nvSpPr>
          <p:cNvPr id="29" name="Text 27"/>
          <p:cNvSpPr/>
          <p:nvPr/>
        </p:nvSpPr>
        <p:spPr>
          <a:xfrm>
            <a:off x="3575304" y="4434840"/>
            <a:ext cx="223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85.0%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181344" y="3383280"/>
            <a:ext cx="2560320" cy="1481328"/>
          </a:xfrm>
          <a:prstGeom prst="roundRect">
            <a:avLst>
              <a:gd name="adj" fmla="val 4938"/>
            </a:avLst>
          </a:prstGeom>
          <a:solidFill>
            <a:srgbClr val="F2FBF6"/>
          </a:solidFill>
          <a:ln/>
        </p:spPr>
      </p:sp>
      <p:sp>
        <p:nvSpPr>
          <p:cNvPr id="31" name="Text 29"/>
          <p:cNvSpPr/>
          <p:nvPr/>
        </p:nvSpPr>
        <p:spPr>
          <a:xfrm>
            <a:off x="6345936" y="3511296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turns (annual)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345936" y="3886200"/>
            <a:ext cx="2231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A9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60.3</a:t>
            </a:r>
            <a:endParaRPr lang="en-US" sz="2500" dirty="0"/>
          </a:p>
        </p:txBody>
      </p:sp>
      <p:sp>
        <p:nvSpPr>
          <p:cNvPr id="33" name="Text 31"/>
          <p:cNvSpPr/>
          <p:nvPr/>
        </p:nvSpPr>
        <p:spPr>
          <a:xfrm>
            <a:off x="6345936" y="4434840"/>
            <a:ext cx="223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45.0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40080" y="641908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— synthetic data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402336" cy="402336"/>
          </a:xfrm>
          <a:prstGeom prst="ellipse">
            <a:avLst/>
          </a:prstGeom>
          <a:solidFill>
            <a:srgbClr val="0FA95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207008" y="329184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margin goes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207008" y="914400"/>
            <a:ext cx="10314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7.45m of gross margin, and what the supply chain gives back</a:t>
            </a:r>
            <a:endParaRPr lang="en-US" sz="1350" dirty="0"/>
          </a:p>
        </p:txBody>
      </p:sp>
      <p:pic>
        <p:nvPicPr>
          <p:cNvPr id="6" name="Image 0" descr="/sessions/nice-serene-bohr/mnt/Decision Brief Generator/outputs/charts/margin_waterf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325880"/>
            <a:ext cx="10607040" cy="4846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641908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— synthetic data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402336" cy="402336"/>
          </a:xfrm>
          <a:prstGeom prst="ellipse">
            <a:avLst/>
          </a:prstGeom>
          <a:solidFill>
            <a:srgbClr val="0FA95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207008" y="329184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going wrong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207008" y="914400"/>
            <a:ext cx="10314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by materiality weighted by confidence. Root causes, not symptoms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1609344"/>
            <a:ext cx="310896" cy="310896"/>
          </a:xfrm>
          <a:prstGeom prst="ellipse">
            <a:avLst/>
          </a:prstGeom>
          <a:solidFill>
            <a:srgbClr val="D64545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6093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0" y="1481328"/>
            <a:ext cx="8321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 swings 16pp across the week — Thursday 96.4% down to Monday 80.2% — because orders are reviewed Monday and Wednesday but demand peaks Friday and Saturday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9144000" y="148132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478k/yr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0" y="1883664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97% conf.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0080" y="2578608"/>
            <a:ext cx="310896" cy="310896"/>
          </a:xfrm>
          <a:prstGeom prst="ellipse">
            <a:avLst/>
          </a:prstGeom>
          <a:solidFill>
            <a:srgbClr val="D64545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5786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97280" y="2450592"/>
            <a:ext cx="8321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266 store-SKU lines have a case pack holding more days of stock than the product's own shelf life — 65% of network write-off, AED 204k a year that no store can prevent by ordering better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9144000" y="24505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204k/yr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144000" y="2852928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87% conf.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3547872"/>
            <a:ext cx="310896" cy="310896"/>
          </a:xfrm>
          <a:prstGeom prst="ellipse">
            <a:avLst/>
          </a:prstGeom>
          <a:solidFill>
            <a:srgbClr val="D64545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47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97280" y="3419856"/>
            <a:ext cx="8321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fill rate is 90.5% against a 97% target — closing the gap is worth AED 0.71m a year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9144000" y="341985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708k/yr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144000" y="38221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97% conf.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40080" y="4517136"/>
            <a:ext cx="310896" cy="310896"/>
          </a:xfrm>
          <a:prstGeom prst="ellipse">
            <a:avLst/>
          </a:prstGeom>
          <a:solidFill>
            <a:srgbClr val="D64545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5171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97280" y="4389120"/>
            <a:ext cx="8321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Gulf Fresh Produce is the network's least reliable supplier — OTIF 76% against a 95% target, costing about AED 191k a year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144000" y="43891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191k/yr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144000" y="4791456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98% conf.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40080" y="5486400"/>
            <a:ext cx="310896" cy="310896"/>
          </a:xfrm>
          <a:prstGeom prst="ellipse">
            <a:avLst/>
          </a:prstGeom>
          <a:solidFill>
            <a:srgbClr val="0FA958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54864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97280" y="5358384"/>
            <a:ext cx="8321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slowest 82 of 215 SKUs earn 5.0% of revenue but occupy 26% of shelf slots and account for 35% of write-off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9144000" y="535838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154k/yr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144000" y="576072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93% conf.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40080" y="641908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— synthetic data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402336" cy="402336"/>
          </a:xfrm>
          <a:prstGeom prst="ellipse">
            <a:avLst/>
          </a:prstGeom>
          <a:solidFill>
            <a:srgbClr val="0FA95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207008" y="329184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store looks like an inventory problem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207008" y="914400"/>
            <a:ext cx="10314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not. This is the distinction the analysis exists to make</a:t>
            </a:r>
            <a:endParaRPr lang="en-US" sz="1350" dirty="0"/>
          </a:p>
        </p:txBody>
      </p:sp>
      <p:pic>
        <p:nvPicPr>
          <p:cNvPr id="6" name="Image 0" descr="/sessions/nice-serene-bohr/mnt/Decision Brief Generator/outputs/charts/store_diagnos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6858000" cy="44805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635240" y="1600200"/>
            <a:ext cx="3886200" cy="3931920"/>
          </a:xfrm>
          <a:prstGeom prst="roundRect">
            <a:avLst>
              <a:gd name="adj" fmla="val 1882"/>
            </a:avLst>
          </a:prstGeom>
          <a:solidFill>
            <a:srgbClr val="F4F6F5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0" y="17830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symptom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863840" y="2084832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p50: 30.50 min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p90: 46.40 min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Cancellation rate: 8.5%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863840" y="30632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rules inventory out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863840" y="3364992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rate: 91.1% — network median 90.6% — the stock was on the shelf, so this is not a stock problem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rate: 2.6% — network median 3.1% — inventory is not being mismanaged here either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863840" y="45537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cause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863840" y="484632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Nahda delivers in 30 min against a network median of 20 and cancels 8.5% of orders — the constraint is fleet capacity, not stock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641908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— synthetic data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402336" cy="402336"/>
          </a:xfrm>
          <a:prstGeom prst="ellipse">
            <a:avLst/>
          </a:prstGeom>
          <a:solidFill>
            <a:srgbClr val="0FA95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207008" y="329184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largest single leak is a calendar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207008" y="914400"/>
            <a:ext cx="10314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are reviewed on the two quietest days of the week</a:t>
            </a:r>
            <a:endParaRPr lang="en-US" sz="1350" dirty="0"/>
          </a:p>
        </p:txBody>
      </p:sp>
      <p:pic>
        <p:nvPicPr>
          <p:cNvPr id="6" name="Image 0" descr="/sessions/nice-serene-bohr/mnt/Decision Brief Generator/outputs/charts/fill_rate_by_d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463040"/>
            <a:ext cx="9601200" cy="42062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641908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— synthetic data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402336" cy="402336"/>
          </a:xfrm>
          <a:prstGeom prst="ellipse">
            <a:avLst/>
          </a:prstGeom>
          <a:solidFill>
            <a:srgbClr val="0FA95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207008" y="329184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do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207008" y="914400"/>
            <a:ext cx="10314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actions, AED 727k a year net of the cost of acting</a:t>
            </a:r>
            <a:endParaRPr lang="en-US" sz="13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36192"/>
          <a:ext cx="108813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794760"/>
                <a:gridCol w="2103120"/>
                <a:gridCol w="1325880"/>
                <a:gridCol w="914400"/>
                <a:gridCol w="1280160"/>
                <a:gridCol w="1005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Effort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Net/yr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C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Payback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Re-time replenishment review and forecast forward, not backward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 Planning Lead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immediate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46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311k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 mo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Re-specify case packs on short-shelf-life lines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Procurement Lead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near term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46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111k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immediate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Rationalise the slow-moving tail and reallocate the slots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 Manager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near term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46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107k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 mo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Put Gulf Fresh Produce on a formal performance plan and dual-source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Procurement Lead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near term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46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83k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immediate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R5a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Re-time captain shifts at Al Nahda to the demand peak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Fleet Operations Manager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immediate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46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73k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 mo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 a Ramadan operating playbook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Supply Chain Director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C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46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42k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 mo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5148072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F4F6F5"/>
          </a:solidFill>
          <a:ln/>
        </p:spPr>
      </p:sp>
      <p:sp>
        <p:nvSpPr>
          <p:cNvPr id="8" name="Text 5"/>
          <p:cNvSpPr/>
          <p:nvPr/>
        </p:nvSpPr>
        <p:spPr>
          <a:xfrm>
            <a:off x="960120" y="5312664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761k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960120" y="575157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benefit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3657600" y="5312664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34k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3657600" y="575157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cost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355080" y="5312664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103k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355080" y="575157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one-off investment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9052560" y="5312664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A9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727k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9052560" y="575157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annual value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40080" y="641908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— synthetic data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84048"/>
            <a:ext cx="402336" cy="402336"/>
          </a:xfrm>
          <a:prstGeom prst="ellipse">
            <a:avLst/>
          </a:prstGeom>
          <a:solidFill>
            <a:srgbClr val="0FA958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84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207008" y="329184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one thing not to do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207008" y="914400"/>
            <a:ext cx="10314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obvious fix does not pay, and saying so is part of the job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" y="1600200"/>
            <a:ext cx="5486400" cy="3566160"/>
          </a:xfrm>
          <a:prstGeom prst="roundRect">
            <a:avLst>
              <a:gd name="adj" fmla="val 2051"/>
            </a:avLst>
          </a:prstGeom>
          <a:solidFill>
            <a:srgbClr val="FDF3F3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82880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2.5 captain shifts/day at Al Nahda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834640" y="2697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83k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32644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834640" y="32644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111k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14400" y="383133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2834640" y="383133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-AED 28k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675120" y="17830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675120" y="210312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A9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Re-time captain shifts at Al Nahda to the demand peak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675120" y="288036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this first because it is cheap and reversible, and because it tests whether the constraint is genuinely total capacity or merely its distribution across the day.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675120" y="43434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4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73k a year, at low effort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641908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— synthetic data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330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would measure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action has a leading indicator that moves before the money does. If it has not moved by the review point, stop the action rather than extend it.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21031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A9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325880" y="2103120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fill-rate spread (best day minus worst day) below 5pp within two months; Monday fill rate above 92%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9509760" y="21031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276148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A9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25880" y="276148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rate on affected lines below 4% within one quarter; no fill-rate deterioration on the same lines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9509760" y="276148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0080" y="341985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A9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325880" y="3419856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 productivity (revenue per slot) up 10% within two quarters with no fall in basket size or order frequency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509760" y="341985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40080" y="407822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A9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325880" y="4078224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OTIF above 90% within one quarter; lead-time CV below 0.35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9509760" y="40782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0080" y="473659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A9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R5a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25880" y="473659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p50 at Al Nahda below 25 min and cancellation rate below 4.0% within six weeks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509760" y="473659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0080" y="53949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A9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325880" y="5394960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rate inside the peak window within 2pp of the annual average, versus the current shortfall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9509760" y="53949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9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annual, with a post-event review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0080" y="635508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— synthetic data. No Careem data was used.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Supply Chain Decision Brief</dc:title>
  <dc:subject>PptxGenJS Presentation</dc:subject>
  <dc:creator>Decision Brief Generator</dc:creator>
  <cp:lastModifiedBy>Decision Brief Generator</cp:lastModifiedBy>
  <cp:revision>1</cp:revision>
  <dcterms:created xsi:type="dcterms:W3CDTF">2026-08-03T08:26:49Z</dcterms:created>
  <dcterms:modified xsi:type="dcterms:W3CDTF">2026-08-03T08:26:49Z</dcterms:modified>
</cp:coreProperties>
</file>