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data throughout. The purpose is to demonstrate the analytical method, not to report on a real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ask. The rest of the deck justifies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tool reasoning from symptoms to inventory would get this wrong and spend a quarter fixing something that was never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Knowing that the obvious fix does not work is worth as much as knowing which one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Brief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703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Careem Quik — UAE dark-store network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41330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2025-01-01 to 2026-06-30  ·  546 days  ·  AED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Supply Chain Director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321040" y="562356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5623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asked, before any of the analysis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4F6F5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28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41248" y="267004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recommended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536192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4F6F5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828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727k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3611880" y="267004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536192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4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1828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103k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382512" y="267004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investment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1976" y="1536192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4F6F5"/>
          </a:solidFill>
          <a:ln/>
        </p:spPr>
      </p:sp>
      <p:sp>
        <p:nvSpPr>
          <p:cNvPr id="16" name="Text 14"/>
          <p:cNvSpPr/>
          <p:nvPr/>
        </p:nvSpPr>
        <p:spPr>
          <a:xfrm>
            <a:off x="9153144" y="1828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983k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9153144" y="267004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leakage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913632"/>
            <a:ext cx="182880" cy="182880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" y="3794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now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9264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and R5a. Both are scheduling changes — no headcount, no capital.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782312"/>
            <a:ext cx="182880" cy="182880"/>
          </a:xfrm>
          <a:prstGeom prst="ellipse">
            <a:avLst/>
          </a:prstGeom>
          <a:solidFill>
            <a:srgbClr val="046A38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to negotiate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and R3. Both need supplier agreement before they can move.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650992"/>
            <a:ext cx="182880" cy="1828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5" name="Text 23"/>
          <p:cNvSpPr/>
          <p:nvPr/>
        </p:nvSpPr>
        <p:spPr>
          <a:xfrm>
            <a:off x="969264" y="5532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9264" y="5897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recommendation is analysed and rejected. The obvious fix for the worst-performing store costs more than it saves.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network stands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metric against its declared target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DF3F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2821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1031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04672" y="265176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97.0%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160020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DF3F3"/>
          </a:solidFill>
          <a:ln/>
        </p:spPr>
      </p:sp>
      <p:sp>
        <p:nvSpPr>
          <p:cNvPr id="11" name="Text 9"/>
          <p:cNvSpPr/>
          <p:nvPr/>
        </p:nvSpPr>
        <p:spPr>
          <a:xfrm>
            <a:off x="3575304" y="172821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75304" y="21031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575304" y="265176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2.0%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60020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D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172821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OTIF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5936" y="21031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345936" y="265176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95.0%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51976" y="160020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DF3F3"/>
          </a:solidFill>
          <a:ln/>
        </p:spPr>
      </p:sp>
      <p:sp>
        <p:nvSpPr>
          <p:cNvPr id="19" name="Text 17"/>
          <p:cNvSpPr/>
          <p:nvPr/>
        </p:nvSpPr>
        <p:spPr>
          <a:xfrm>
            <a:off x="9116568" y="172821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p50 (min)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16568" y="21031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9116568" y="265176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20.0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38328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DF3F3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51129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388620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804672" y="443484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2.5%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10712" y="338328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2FBF6"/>
          </a:solidFill>
          <a:ln/>
        </p:spPr>
      </p:sp>
      <p:sp>
        <p:nvSpPr>
          <p:cNvPr id="27" name="Text 25"/>
          <p:cNvSpPr/>
          <p:nvPr/>
        </p:nvSpPr>
        <p:spPr>
          <a:xfrm>
            <a:off x="3575304" y="351129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utilisation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75304" y="388620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3575304" y="443484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85.0%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81344" y="338328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2FBF6"/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351129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turns (annual)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388620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60.3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6345936" y="443484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45.0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margin goes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7.45m of gross margin, and what the supply chain gives back</a:t>
            </a:r>
            <a:endParaRPr lang="en-US" sz="1350" dirty="0"/>
          </a:p>
        </p:txBody>
      </p:sp>
      <p:pic>
        <p:nvPicPr>
          <p:cNvPr id="6" name="Image 0" descr="/sessions/nice-serene-bohr/mnt/Decision Brief Generator/outputs/charts/margin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1060704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going wrong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materiality weighted by confidence. Root causes, not symptoms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09344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swings 16pp across the week — Thursday 96.4% down to Monday 80.2% — because orders are reviewed Monday and Wednesday but demand peaks Friday and Saturday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0" y="1481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478k/yr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0" y="18836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conf.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78608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450592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 store-SKU lines have a case pack holding more days of stock than the product's own shelf life — 65% of network write-off, AED 204k a year that no store can prevent by ordering better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0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204k/yr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0" y="28529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conf.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47872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419856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fill rate is 90.5% against a 97% target — closing the gap is worth AED 0.71m a year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0" y="34198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708k/yr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38221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conf.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517136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389120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Fresh Produce is the network's least reliable supplier — OTIF 76% against a 95% target, costing about AED 191k a year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0" y="4389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191k/yr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0" y="47914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conf.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310896" cy="31089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5358384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slowest 82 of 215 SKUs earn 5.0% of revenue but occupy 26% of shelf slots and account for 35% of write-off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0" y="53583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154k/yr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0" y="57607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conf.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store looks like an inventory problem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not. This is the distinction the analysis exists to make</a:t>
            </a:r>
            <a:endParaRPr lang="en-US" sz="1350" dirty="0"/>
          </a:p>
        </p:txBody>
      </p:sp>
      <p:pic>
        <p:nvPicPr>
          <p:cNvPr id="6" name="Image 0" descr="/sessions/nice-serene-bohr/mnt/Decision Brief Generator/outputs/charts/store_diagno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8580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600200"/>
            <a:ext cx="3886200" cy="3931920"/>
          </a:xfrm>
          <a:prstGeom prst="roundRect">
            <a:avLst>
              <a:gd name="adj" fmla="val 1882"/>
            </a:avLst>
          </a:prstGeom>
          <a:solidFill>
            <a:srgbClr val="F4F6F5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symptom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63840" y="20848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p50: 30.50 min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p90: 46.40 min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rate: 8.5%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6384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rules inventory out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3364992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rate: 91.1% — network median 90.6% — the stock was on the shelf, so this is not a stock problem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rate: 2.6% — network median 3.1% — inventory is not being mismanaged here either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863840" y="4553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48463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Nahda delivers in 30 min against a network median of 20 and cancels 8.5% of orders — the constraint is fleet capacity, not stock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largest single leak is a calendar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reviewed on the two quietest days of the week</a:t>
            </a:r>
            <a:endParaRPr lang="en-US" sz="1350" dirty="0"/>
          </a:p>
        </p:txBody>
      </p:sp>
      <p:pic>
        <p:nvPicPr>
          <p:cNvPr id="6" name="Image 0" descr="/sessions/nice-serene-bohr/mnt/Decision Brief Generator/outputs/charts/fill_rate_by_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63040"/>
            <a:ext cx="960120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actions, AED 727k a year net of the cost of acting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36192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794760"/>
                <a:gridCol w="2103120"/>
                <a:gridCol w="1325880"/>
                <a:gridCol w="914400"/>
                <a:gridCol w="128016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Re-time replenishment review and forecast forward, not backward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Planning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6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311k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Re-specify case packs on short-shelf-life 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6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111k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Rationalise the slow-moving tail and reallocate the slots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6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107k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Gulf Fresh Produce on a formal performance plan and dual-source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6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83k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Re-time captain shifts at Al Nahda to the demand 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Operations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6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73k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Ramadan operating playbook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 Director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6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42k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148072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5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53126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761k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5751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benefit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0" y="53126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34k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0" y="5751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cost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355080" y="53126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103k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5751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investment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052560" y="53126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727k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052560" y="5751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one thing not to 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fix does not pay, and saying so is part of the job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DF3F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2.5 captain shifts/day at Al Nahda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34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83k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264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34640" y="3264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111k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831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34640" y="38313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-AED 28k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103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9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Re-time captain shifts at Al Nahda to the demand peak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28803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first because it is cheap and reversible, and because it tests whether the constraint is genuinely total capacity or merely its distribution across the day.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73k a year, at low effort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measure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 has a leading indicator that moves before the money does. If it has not moved by the review point, stop the action rather than extend 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210312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fill-rate spread (best day minus worst day) below 5pp within two months; Monday fill rate above 92%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50976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761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76148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rate on affected lines below 4% within one quarter; no fill-rate deterioration on the same lines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09760" y="2761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4198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341985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productivity (revenue per slot) up 10% within two quarters with no fall in basket size or order frequency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509760" y="34198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0782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07822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 above 90% within one quarter; lead-time CV below 0.35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509760" y="40782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736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473659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p50 at Al Nahda below 25 min and cancellation rate below 4.0% within six weeks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509760" y="4736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539496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inside the peak window within 2pp of the annual average, versus the current shortfall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509760" y="5394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annual, with a post-event review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data. No Careem data was used.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Decision Brief</dc:title>
  <dc:subject>PptxGenJS Presentation</dc:subject>
  <dc:creator>Decision Brief Generator</dc:creator>
  <cp:lastModifiedBy>Decision Brief Generator</cp:lastModifiedBy>
  <cp:revision>1</cp:revision>
  <dcterms:created xsi:type="dcterms:W3CDTF">2026-08-09T09:45:23Z</dcterms:created>
  <dcterms:modified xsi:type="dcterms:W3CDTF">2026-08-09T09:45:23Z</dcterms:modified>
</cp:coreProperties>
</file>